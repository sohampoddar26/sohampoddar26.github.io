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67E2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82296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400" b="1">
                <a:solidFill>
                  <a:srgbClr val="FFFFFF"/>
                </a:solidFill>
              </a:defRPr>
            </a:pPr>
            <a:r>
              <a:t>Hash Tables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365760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>
                <a:solidFill>
                  <a:srgbClr val="ECF0F1"/>
                </a:solidFill>
              </a:defRPr>
            </a:pPr>
            <a:r>
              <a:t>The Secret Behind Lightning-Fast Lookups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2C3E50"/>
                </a:solidFill>
              </a:defRPr>
            </a:pPr>
            <a:r>
              <a:t>The Challenge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005840"/>
            <a:ext cx="8229600" cy="50800"/>
          </a:xfrm>
          <a:prstGeom prst="rect">
            <a:avLst/>
          </a:prstGeom>
          <a:solidFill>
            <a:srgbClr val="2980B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280160"/>
            <a:ext cx="8229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200"/>
              </a:spcBef>
              <a:defRPr sz="2400">
                <a:solidFill>
                  <a:srgbClr val="34495E"/>
                </a:solidFill>
              </a:defRPr>
            </a:pPr>
            <a:r>
              <a:t>• 📞 Phonebook with 1 million entries</a:t>
            </a:r>
          </a:p>
          <a:p>
            <a:pPr>
              <a:spcBef>
                <a:spcPts val="1200"/>
              </a:spcBef>
              <a:defRPr sz="2400">
                <a:solidFill>
                  <a:srgbClr val="34495E"/>
                </a:solidFill>
              </a:defRPr>
            </a:pPr>
            <a:r>
              <a:t>• Find: 'Sharma, Priya' → Phone number</a:t>
            </a:r>
          </a:p>
          <a:p>
            <a:pPr>
              <a:spcBef>
                <a:spcPts val="1200"/>
              </a:spcBef>
              <a:defRPr sz="2400">
                <a:solidFill>
                  <a:srgbClr val="34495E"/>
                </a:solidFill>
              </a:defRPr>
            </a:pPr>
            <a:r>
              <a:t>• </a:t>
            </a:r>
          </a:p>
          <a:p>
            <a:pPr>
              <a:spcBef>
                <a:spcPts val="1200"/>
              </a:spcBef>
              <a:defRPr sz="2400">
                <a:solidFill>
                  <a:srgbClr val="34495E"/>
                </a:solidFill>
              </a:defRPr>
            </a:pPr>
            <a:r>
              <a:t>• Unsorted list: Check all 1 million → O(n)</a:t>
            </a:r>
          </a:p>
          <a:p>
            <a:pPr>
              <a:spcBef>
                <a:spcPts val="1200"/>
              </a:spcBef>
              <a:defRPr sz="2400">
                <a:solidFill>
                  <a:srgbClr val="34495E"/>
                </a:solidFill>
              </a:defRPr>
            </a:pPr>
            <a:r>
              <a:t>• Sorted list + Binary search: ~20 comparisons → O(log n)</a:t>
            </a:r>
          </a:p>
          <a:p>
            <a:pPr>
              <a:spcBef>
                <a:spcPts val="1200"/>
              </a:spcBef>
              <a:defRPr sz="2400">
                <a:solidFill>
                  <a:srgbClr val="34495E"/>
                </a:solidFill>
              </a:defRPr>
            </a:pPr>
            <a:r>
              <a:t>• </a:t>
            </a:r>
          </a:p>
          <a:p>
            <a:pPr>
              <a:spcBef>
                <a:spcPts val="1200"/>
              </a:spcBef>
              <a:defRPr sz="2400">
                <a:solidFill>
                  <a:srgbClr val="34495E"/>
                </a:solidFill>
              </a:defRPr>
            </a:pPr>
            <a:r>
              <a:t>• Python dict: ONE step → O(1) 🚀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2C3E50"/>
                </a:solidFill>
              </a:defRPr>
            </a:pPr>
            <a:r>
              <a:t>Hash Tables Power Everything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005840"/>
            <a:ext cx="8229600" cy="50800"/>
          </a:xfrm>
          <a:prstGeom prst="rect">
            <a:avLst/>
          </a:prstGeom>
          <a:solidFill>
            <a:srgbClr val="2980B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280160"/>
            <a:ext cx="8229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200"/>
              </a:spcBef>
              <a:defRPr sz="2400">
                <a:solidFill>
                  <a:srgbClr val="34495E"/>
                </a:solidFill>
              </a:defRPr>
            </a:pPr>
            <a:r>
              <a:t>• 🐍 Python: dict, set</a:t>
            </a:r>
          </a:p>
          <a:p>
            <a:pPr>
              <a:spcBef>
                <a:spcPts val="1200"/>
              </a:spcBef>
              <a:defRPr sz="2400">
                <a:solidFill>
                  <a:srgbClr val="34495E"/>
                </a:solidFill>
              </a:defRPr>
            </a:pPr>
            <a:r>
              <a:t>• ☕ Java: HashMap, HashSet</a:t>
            </a:r>
          </a:p>
          <a:p>
            <a:pPr>
              <a:spcBef>
                <a:spcPts val="1200"/>
              </a:spcBef>
              <a:defRPr sz="2400">
                <a:solidFill>
                  <a:srgbClr val="34495E"/>
                </a:solidFill>
              </a:defRPr>
            </a:pPr>
            <a:r>
              <a:t>• 📜 JavaScript: Objects</a:t>
            </a:r>
          </a:p>
          <a:p>
            <a:pPr>
              <a:spcBef>
                <a:spcPts val="1200"/>
              </a:spcBef>
              <a:defRPr sz="2400">
                <a:solidFill>
                  <a:srgbClr val="34495E"/>
                </a:solidFill>
              </a:defRPr>
            </a:pPr>
            <a:r>
              <a:t>• 🗄️ Databases: Indexes</a:t>
            </a:r>
          </a:p>
          <a:p>
            <a:pPr>
              <a:spcBef>
                <a:spcPts val="1200"/>
              </a:spcBef>
              <a:defRPr sz="2400">
                <a:solidFill>
                  <a:srgbClr val="34495E"/>
                </a:solidFill>
              </a:defRPr>
            </a:pPr>
            <a:r>
              <a:t>• 💾 Caching systems</a:t>
            </a:r>
          </a:p>
          <a:p>
            <a:pPr>
              <a:spcBef>
                <a:spcPts val="1200"/>
              </a:spcBef>
              <a:defRPr sz="2400">
                <a:solidFill>
                  <a:srgbClr val="34495E"/>
                </a:solidFill>
              </a:defRPr>
            </a:pPr>
            <a:r>
              <a:t>• 🌐 Your browser's local storage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2C3E50"/>
                </a:solidFill>
              </a:defRPr>
            </a:pPr>
            <a:r>
              <a:t>Arrays: The Fastest Data Structure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005840"/>
            <a:ext cx="8229600" cy="50800"/>
          </a:xfrm>
          <a:prstGeom prst="rect">
            <a:avLst/>
          </a:prstGeom>
          <a:solidFill>
            <a:srgbClr val="2980B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280160"/>
            <a:ext cx="8229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200"/>
              </a:spcBef>
              <a:defRPr sz="2400">
                <a:solidFill>
                  <a:srgbClr val="34495E"/>
                </a:solidFill>
              </a:defRPr>
            </a:pPr>
            <a:r>
              <a:t>• Array[42] → Direct address calculation:</a:t>
            </a:r>
          </a:p>
          <a:p>
            <a:pPr>
              <a:spcBef>
                <a:spcPts val="1200"/>
              </a:spcBef>
              <a:defRPr sz="2400">
                <a:solidFill>
                  <a:srgbClr val="34495E"/>
                </a:solidFill>
              </a:defRPr>
            </a:pPr>
            <a:r>
              <a:t>•    address = base + 42 × element_size</a:t>
            </a:r>
          </a:p>
          <a:p>
            <a:pPr>
              <a:spcBef>
                <a:spcPts val="1200"/>
              </a:spcBef>
              <a:defRPr sz="2400">
                <a:solidFill>
                  <a:srgbClr val="34495E"/>
                </a:solidFill>
              </a:defRPr>
            </a:pPr>
            <a:r>
              <a:t>• </a:t>
            </a:r>
          </a:p>
          <a:p>
            <a:pPr>
              <a:spcBef>
                <a:spcPts val="1200"/>
              </a:spcBef>
              <a:defRPr sz="2400">
                <a:solidFill>
                  <a:srgbClr val="34495E"/>
                </a:solidFill>
              </a:defRPr>
            </a:pPr>
            <a:r>
              <a:t>• ONE step! O(1) ✓</a:t>
            </a:r>
          </a:p>
          <a:p>
            <a:pPr>
              <a:spcBef>
                <a:spcPts val="1200"/>
              </a:spcBef>
              <a:defRPr sz="2400">
                <a:solidFill>
                  <a:srgbClr val="34495E"/>
                </a:solidFill>
              </a:defRPr>
            </a:pPr>
            <a:r>
              <a:t>• </a:t>
            </a:r>
          </a:p>
          <a:p>
            <a:pPr>
              <a:spcBef>
                <a:spcPts val="1200"/>
              </a:spcBef>
              <a:defRPr sz="2400">
                <a:solidFill>
                  <a:srgbClr val="34495E"/>
                </a:solidFill>
              </a:defRPr>
            </a:pPr>
            <a:r>
              <a:t>• But... arrays need INTEGER indices</a:t>
            </a:r>
          </a:p>
          <a:p>
            <a:pPr>
              <a:spcBef>
                <a:spcPts val="1200"/>
              </a:spcBef>
              <a:defRPr sz="2400">
                <a:solidFill>
                  <a:srgbClr val="34495E"/>
                </a:solidFill>
              </a:defRPr>
            </a:pPr>
            <a:r>
              <a:t>• What about string keys like names? 🤔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2C3E50"/>
                </a:solidFill>
              </a:defRPr>
            </a:pPr>
            <a:r>
              <a:t>The Brilliant Idea: Hash Functions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005840"/>
            <a:ext cx="8229600" cy="50800"/>
          </a:xfrm>
          <a:prstGeom prst="rect">
            <a:avLst/>
          </a:prstGeom>
          <a:solidFill>
            <a:srgbClr val="2980B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280160"/>
            <a:ext cx="8229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200"/>
              </a:spcBef>
              <a:defRPr sz="2400">
                <a:solidFill>
                  <a:srgbClr val="34495E"/>
                </a:solidFill>
              </a:defRPr>
            </a:pPr>
            <a:r>
              <a:t>• </a:t>
            </a:r>
          </a:p>
          <a:p>
            <a:pPr>
              <a:spcBef>
                <a:spcPts val="1200"/>
              </a:spcBef>
              <a:defRPr sz="2400">
                <a:solidFill>
                  <a:srgbClr val="34495E"/>
                </a:solidFill>
              </a:defRPr>
            </a:pPr>
            <a:r>
              <a:t>• What if we could convert ANY key → integer?</a:t>
            </a:r>
          </a:p>
          <a:p>
            <a:pPr>
              <a:spcBef>
                <a:spcPts val="1200"/>
              </a:spcBef>
              <a:defRPr sz="2400">
                <a:solidFill>
                  <a:srgbClr val="34495E"/>
                </a:solidFill>
              </a:defRPr>
            </a:pPr>
            <a:r>
              <a:t>• </a:t>
            </a:r>
          </a:p>
          <a:p>
            <a:pPr>
              <a:spcBef>
                <a:spcPts val="1200"/>
              </a:spcBef>
              <a:defRPr sz="2400">
                <a:solidFill>
                  <a:srgbClr val="34495E"/>
                </a:solidFill>
              </a:defRPr>
            </a:pPr>
            <a:r>
              <a:t>• 'Priya'  →  hash()  →  7</a:t>
            </a:r>
          </a:p>
          <a:p>
            <a:pPr>
              <a:spcBef>
                <a:spcPts val="1200"/>
              </a:spcBef>
              <a:defRPr sz="2400">
                <a:solidFill>
                  <a:srgbClr val="34495E"/>
                </a:solidFill>
              </a:defRPr>
            </a:pPr>
            <a:r>
              <a:t>• 'Rahul'  →  hash()  →  42</a:t>
            </a:r>
          </a:p>
          <a:p>
            <a:pPr>
              <a:spcBef>
                <a:spcPts val="1200"/>
              </a:spcBef>
              <a:defRPr sz="2400">
                <a:solidFill>
                  <a:srgbClr val="34495E"/>
                </a:solidFill>
              </a:defRPr>
            </a:pPr>
            <a:r>
              <a:t>• </a:t>
            </a:r>
          </a:p>
          <a:p>
            <a:pPr>
              <a:spcBef>
                <a:spcPts val="1200"/>
              </a:spcBef>
              <a:defRPr sz="2400">
                <a:solidFill>
                  <a:srgbClr val="34495E"/>
                </a:solidFill>
              </a:defRPr>
            </a:pPr>
            <a:r>
              <a:t>• Then use that integer as an array index!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2C3E50"/>
                </a:solidFill>
              </a:defRPr>
            </a:pPr>
            <a:r>
              <a:t>Hash Table Operations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005840"/>
            <a:ext cx="8229600" cy="50800"/>
          </a:xfrm>
          <a:prstGeom prst="rect">
            <a:avLst/>
          </a:prstGeom>
          <a:solidFill>
            <a:srgbClr val="2980B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280160"/>
            <a:ext cx="8229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200"/>
              </a:spcBef>
              <a:defRPr sz="2400">
                <a:solidFill>
                  <a:srgbClr val="34495E"/>
                </a:solidFill>
              </a:defRPr>
            </a:pPr>
            <a:r>
              <a:t>• INSERT 'Priya' → hash('Priya') = 7 → store at index 7</a:t>
            </a:r>
          </a:p>
          <a:p>
            <a:pPr>
              <a:spcBef>
                <a:spcPts val="1200"/>
              </a:spcBef>
              <a:defRPr sz="2400">
                <a:solidFill>
                  <a:srgbClr val="34495E"/>
                </a:solidFill>
              </a:defRPr>
            </a:pPr>
            <a:r>
              <a:t>• </a:t>
            </a:r>
          </a:p>
          <a:p>
            <a:pPr>
              <a:spcBef>
                <a:spcPts val="1200"/>
              </a:spcBef>
              <a:defRPr sz="2400">
                <a:solidFill>
                  <a:srgbClr val="34495E"/>
                </a:solidFill>
              </a:defRPr>
            </a:pPr>
            <a:r>
              <a:t>• LOOKUP 'Priya' → hash('Priya') = 7 → retrieve index 7</a:t>
            </a:r>
          </a:p>
          <a:p>
            <a:pPr>
              <a:spcBef>
                <a:spcPts val="1200"/>
              </a:spcBef>
              <a:defRPr sz="2400">
                <a:solidFill>
                  <a:srgbClr val="34495E"/>
                </a:solidFill>
              </a:defRPr>
            </a:pPr>
            <a:r>
              <a:t>• </a:t>
            </a:r>
          </a:p>
          <a:p>
            <a:pPr>
              <a:spcBef>
                <a:spcPts val="1200"/>
              </a:spcBef>
              <a:defRPr sz="2400">
                <a:solidFill>
                  <a:srgbClr val="34495E"/>
                </a:solidFill>
              </a:defRPr>
            </a:pPr>
            <a:r>
              <a:t>• Both operations: O(1)! 🎉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2C3E50"/>
                </a:solidFill>
              </a:defRPr>
            </a:pPr>
            <a:r>
              <a:t>Simple Hash Function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457200" y="1097280"/>
            <a:ext cx="8229600" cy="4572000"/>
          </a:xfrm>
          <a:prstGeom prst="roundRect">
            <a:avLst/>
          </a:prstGeom>
          <a:solidFill>
            <a:srgbClr val="2728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280160"/>
            <a:ext cx="786384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>
                <a:solidFill>
                  <a:srgbClr val="F8F8F2"/>
                </a:solidFill>
                <a:latin typeface="Consolas"/>
              </a:defRPr>
            </a:pPr>
            <a:r>
              <a:t>def simple_hash(key, table_size):</a:t>
            </a:r>
            <a:br/>
            <a:r>
              <a:t>    total = 0</a:t>
            </a:r>
            <a:br/>
            <a:r>
              <a:t>    for char in key:</a:t>
            </a:r>
            <a:br/>
            <a:r>
              <a:t>        total = (total * 31 + ord(char))</a:t>
            </a:r>
            <a:br/>
            <a:r>
              <a:t>    return total % table_size</a:t>
            </a:r>
            <a:br/>
            <a:br/>
            <a:r>
              <a:t># Example:</a:t>
            </a:r>
            <a:br/>
            <a:r>
              <a:t>hash('Priya', 10)  # → 7</a:t>
            </a:r>
            <a:br/>
            <a:r>
              <a:t>hash('Rahul', 10)  # → 3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2C3E50"/>
                </a:solidFill>
              </a:defRPr>
            </a:pPr>
            <a:r>
              <a:t>The Inevitable Problem: Collisions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005840"/>
            <a:ext cx="8229600" cy="50800"/>
          </a:xfrm>
          <a:prstGeom prst="rect">
            <a:avLst/>
          </a:prstGeom>
          <a:solidFill>
            <a:srgbClr val="2980B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280160"/>
            <a:ext cx="8229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200"/>
              </a:spcBef>
              <a:defRPr sz="2400">
                <a:solidFill>
                  <a:srgbClr val="34495E"/>
                </a:solidFill>
              </a:defRPr>
            </a:pPr>
            <a:r>
              <a:t>• Infinite possible keys (all strings)</a:t>
            </a:r>
          </a:p>
          <a:p>
            <a:pPr>
              <a:spcBef>
                <a:spcPts val="1200"/>
              </a:spcBef>
              <a:defRPr sz="2400">
                <a:solidFill>
                  <a:srgbClr val="34495E"/>
                </a:solidFill>
              </a:defRPr>
            </a:pPr>
            <a:r>
              <a:t>• Finite array slots (e.g., 100)</a:t>
            </a:r>
          </a:p>
          <a:p>
            <a:pPr>
              <a:spcBef>
                <a:spcPts val="1200"/>
              </a:spcBef>
              <a:defRPr sz="2400">
                <a:solidFill>
                  <a:srgbClr val="34495E"/>
                </a:solidFill>
              </a:defRPr>
            </a:pPr>
            <a:r>
              <a:t>• </a:t>
            </a:r>
          </a:p>
          <a:p>
            <a:pPr>
              <a:spcBef>
                <a:spcPts val="1200"/>
              </a:spcBef>
              <a:defRPr sz="2400">
                <a:solidFill>
                  <a:srgbClr val="34495E"/>
                </a:solidFill>
              </a:defRPr>
            </a:pPr>
            <a:r>
              <a:t>• By pigeonhole principle:</a:t>
            </a:r>
          </a:p>
          <a:p>
            <a:pPr>
              <a:spcBef>
                <a:spcPts val="1200"/>
              </a:spcBef>
              <a:defRPr sz="2400">
                <a:solidFill>
                  <a:srgbClr val="34495E"/>
                </a:solidFill>
              </a:defRPr>
            </a:pPr>
            <a:r>
              <a:t>• Multiple keys MUST map to the same index!</a:t>
            </a:r>
          </a:p>
          <a:p>
            <a:pPr>
              <a:spcBef>
                <a:spcPts val="1200"/>
              </a:spcBef>
              <a:defRPr sz="2400">
                <a:solidFill>
                  <a:srgbClr val="34495E"/>
                </a:solidFill>
              </a:defRPr>
            </a:pPr>
            <a:r>
              <a:t>• </a:t>
            </a:r>
          </a:p>
          <a:p>
            <a:pPr>
              <a:spcBef>
                <a:spcPts val="1200"/>
              </a:spcBef>
              <a:defRPr sz="2400">
                <a:solidFill>
                  <a:srgbClr val="34495E"/>
                </a:solidFill>
              </a:defRPr>
            </a:pPr>
            <a:r>
              <a:t>• hash('Priya') = 7</a:t>
            </a:r>
          </a:p>
          <a:p>
            <a:pPr>
              <a:spcBef>
                <a:spcPts val="1200"/>
              </a:spcBef>
              <a:defRPr sz="2400">
                <a:solidFill>
                  <a:srgbClr val="34495E"/>
                </a:solidFill>
              </a:defRPr>
            </a:pPr>
            <a:r>
              <a:t>• hash('Alicia') = 7   ← COLLISION! 💥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2C3E50"/>
                </a:solidFill>
              </a:defRPr>
            </a:pPr>
            <a:r>
              <a:t>Solution 1: Chaining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005840"/>
            <a:ext cx="8229600" cy="50800"/>
          </a:xfrm>
          <a:prstGeom prst="rect">
            <a:avLst/>
          </a:prstGeom>
          <a:solidFill>
            <a:srgbClr val="2980B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280160"/>
            <a:ext cx="8229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200"/>
              </a:spcBef>
              <a:defRPr sz="2400">
                <a:solidFill>
                  <a:srgbClr val="34495E"/>
                </a:solidFill>
              </a:defRPr>
            </a:pPr>
            <a:r>
              <a:t>• At each index, store a linked list</a:t>
            </a:r>
          </a:p>
          <a:p>
            <a:pPr>
              <a:spcBef>
                <a:spcPts val="1200"/>
              </a:spcBef>
              <a:defRPr sz="2400">
                <a:solidFill>
                  <a:srgbClr val="34495E"/>
                </a:solidFill>
              </a:defRPr>
            </a:pPr>
            <a:r>
              <a:t>• </a:t>
            </a:r>
          </a:p>
          <a:p>
            <a:pPr>
              <a:spcBef>
                <a:spcPts val="1200"/>
              </a:spcBef>
              <a:defRPr sz="2400">
                <a:solidFill>
                  <a:srgbClr val="34495E"/>
                </a:solidFill>
              </a:defRPr>
            </a:pPr>
            <a:r>
              <a:t>• Index 7: → [Priya: 555-1234] → [Alicia: 555-5678]</a:t>
            </a:r>
          </a:p>
          <a:p>
            <a:pPr>
              <a:spcBef>
                <a:spcPts val="1200"/>
              </a:spcBef>
              <a:defRPr sz="2400">
                <a:solidFill>
                  <a:srgbClr val="34495E"/>
                </a:solidFill>
              </a:defRPr>
            </a:pPr>
            <a:r>
              <a:t>• </a:t>
            </a:r>
          </a:p>
          <a:p>
            <a:pPr>
              <a:spcBef>
                <a:spcPts val="1200"/>
              </a:spcBef>
              <a:defRPr sz="2400">
                <a:solidFill>
                  <a:srgbClr val="34495E"/>
                </a:solidFill>
              </a:defRPr>
            </a:pPr>
            <a:r>
              <a:t>• INSERT: Hash → Append to list</a:t>
            </a:r>
          </a:p>
          <a:p>
            <a:pPr>
              <a:spcBef>
                <a:spcPts val="1200"/>
              </a:spcBef>
              <a:defRPr sz="2400">
                <a:solidFill>
                  <a:srgbClr val="34495E"/>
                </a:solidFill>
              </a:defRPr>
            </a:pPr>
            <a:r>
              <a:t>• LOOKUP: Hash → Search through list</a:t>
            </a:r>
          </a:p>
          <a:p>
            <a:pPr>
              <a:spcBef>
                <a:spcPts val="1200"/>
              </a:spcBef>
              <a:defRPr sz="2400">
                <a:solidFill>
                  <a:srgbClr val="34495E"/>
                </a:solidFill>
              </a:defRPr>
            </a:pPr>
            <a:r>
              <a:t>• DELETE: Hash → Remove from list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2C3E50"/>
                </a:solidFill>
              </a:defRPr>
            </a:pPr>
            <a:r>
              <a:t>Solution 2: Open Addressing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005840"/>
            <a:ext cx="8229600" cy="50800"/>
          </a:xfrm>
          <a:prstGeom prst="rect">
            <a:avLst/>
          </a:prstGeom>
          <a:solidFill>
            <a:srgbClr val="2980B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280160"/>
            <a:ext cx="8229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200"/>
              </a:spcBef>
              <a:defRPr sz="2400">
                <a:solidFill>
                  <a:srgbClr val="34495E"/>
                </a:solidFill>
              </a:defRPr>
            </a:pPr>
            <a:r>
              <a:t>• No linked lists. If slot is taken, probe for next empty.</a:t>
            </a:r>
          </a:p>
          <a:p>
            <a:pPr>
              <a:spcBef>
                <a:spcPts val="1200"/>
              </a:spcBef>
              <a:defRPr sz="2400">
                <a:solidFill>
                  <a:srgbClr val="34495E"/>
                </a:solidFill>
              </a:defRPr>
            </a:pPr>
            <a:r>
              <a:t>• </a:t>
            </a:r>
          </a:p>
          <a:p>
            <a:pPr>
              <a:spcBef>
                <a:spcPts val="1200"/>
              </a:spcBef>
              <a:defRPr sz="2400">
                <a:solidFill>
                  <a:srgbClr val="34495E"/>
                </a:solidFill>
              </a:defRPr>
            </a:pPr>
            <a:r>
              <a:t>• Linear probing: try i, i+1, i+2, ...</a:t>
            </a:r>
          </a:p>
          <a:p>
            <a:pPr>
              <a:spcBef>
                <a:spcPts val="1200"/>
              </a:spcBef>
              <a:defRPr sz="2400">
                <a:solidFill>
                  <a:srgbClr val="34495E"/>
                </a:solidFill>
              </a:defRPr>
            </a:pPr>
            <a:r>
              <a:t>• </a:t>
            </a:r>
          </a:p>
          <a:p>
            <a:pPr>
              <a:spcBef>
                <a:spcPts val="1200"/>
              </a:spcBef>
              <a:defRPr sz="2400">
                <a:solidFill>
                  <a:srgbClr val="34495E"/>
                </a:solidFill>
              </a:defRPr>
            </a:pPr>
            <a:r>
              <a:t>• Insert 'Priya' → hash=7 → slot 7 empty → ✓</a:t>
            </a:r>
          </a:p>
          <a:p>
            <a:pPr>
              <a:spcBef>
                <a:spcPts val="1200"/>
              </a:spcBef>
              <a:defRPr sz="2400">
                <a:solidFill>
                  <a:srgbClr val="34495E"/>
                </a:solidFill>
              </a:defRPr>
            </a:pPr>
            <a:r>
              <a:t>• Insert 'Alicia' → hash=7 → slot 7 full → try 8 → ✓</a:t>
            </a:r>
          </a:p>
          <a:p>
            <a:pPr>
              <a:spcBef>
                <a:spcPts val="1200"/>
              </a:spcBef>
              <a:defRPr sz="2400">
                <a:solidFill>
                  <a:srgbClr val="34495E"/>
                </a:solidFill>
              </a:defRPr>
            </a:pPr>
            <a:r>
              <a:t>• Lookup 'Alicia' → hash=7 → not Alicia → try 8 → found!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2C3E50"/>
                </a:solidFill>
              </a:defRPr>
            </a:pPr>
            <a:r>
              <a:t>Open Addressing Variants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005840"/>
            <a:ext cx="8229600" cy="50800"/>
          </a:xfrm>
          <a:prstGeom prst="rect">
            <a:avLst/>
          </a:prstGeom>
          <a:solidFill>
            <a:srgbClr val="2980B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280160"/>
            <a:ext cx="8229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200"/>
              </a:spcBef>
              <a:defRPr sz="2400">
                <a:solidFill>
                  <a:srgbClr val="34495E"/>
                </a:solidFill>
              </a:defRPr>
            </a:pPr>
            <a:r>
              <a:t>• Linear probing: i, i+1, i+2, ...</a:t>
            </a:r>
          </a:p>
          <a:p>
            <a:pPr>
              <a:spcBef>
                <a:spcPts val="1200"/>
              </a:spcBef>
              <a:defRPr sz="2400">
                <a:solidFill>
                  <a:srgbClr val="34495E"/>
                </a:solidFill>
              </a:defRPr>
            </a:pPr>
            <a:r>
              <a:t>•    Simple but causes clustering</a:t>
            </a:r>
          </a:p>
          <a:p>
            <a:pPr>
              <a:spcBef>
                <a:spcPts val="1200"/>
              </a:spcBef>
              <a:defRPr sz="2400">
                <a:solidFill>
                  <a:srgbClr val="34495E"/>
                </a:solidFill>
              </a:defRPr>
            </a:pPr>
            <a:r>
              <a:t>• </a:t>
            </a:r>
          </a:p>
          <a:p>
            <a:pPr>
              <a:spcBef>
                <a:spcPts val="1200"/>
              </a:spcBef>
              <a:defRPr sz="2400">
                <a:solidFill>
                  <a:srgbClr val="34495E"/>
                </a:solidFill>
              </a:defRPr>
            </a:pPr>
            <a:r>
              <a:t>• Quadratic probing: i, i+1², i+2², ...</a:t>
            </a:r>
          </a:p>
          <a:p>
            <a:pPr>
              <a:spcBef>
                <a:spcPts val="1200"/>
              </a:spcBef>
              <a:defRPr sz="2400">
                <a:solidFill>
                  <a:srgbClr val="34495E"/>
                </a:solidFill>
              </a:defRPr>
            </a:pPr>
            <a:r>
              <a:t>•    Reduces clustering</a:t>
            </a:r>
          </a:p>
          <a:p>
            <a:pPr>
              <a:spcBef>
                <a:spcPts val="1200"/>
              </a:spcBef>
              <a:defRPr sz="2400">
                <a:solidFill>
                  <a:srgbClr val="34495E"/>
                </a:solidFill>
              </a:defRPr>
            </a:pPr>
            <a:r>
              <a:t>• </a:t>
            </a:r>
          </a:p>
          <a:p>
            <a:pPr>
              <a:spcBef>
                <a:spcPts val="1200"/>
              </a:spcBef>
              <a:defRPr sz="2400">
                <a:solidFill>
                  <a:srgbClr val="34495E"/>
                </a:solidFill>
              </a:defRPr>
            </a:pPr>
            <a:r>
              <a:t>• Double hashing: i, i+h₂(key), i+2h₂(key), ...</a:t>
            </a:r>
          </a:p>
          <a:p>
            <a:pPr>
              <a:spcBef>
                <a:spcPts val="1200"/>
              </a:spcBef>
              <a:defRPr sz="2400">
                <a:solidFill>
                  <a:srgbClr val="34495E"/>
                </a:solidFill>
              </a:defRPr>
            </a:pPr>
            <a:r>
              <a:t>•    Best distribution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2C3E50"/>
                </a:solidFill>
              </a:defRPr>
            </a:pPr>
            <a:r>
              <a:t>Chaining vs Open Addressing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38404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27AE60"/>
                </a:solidFill>
              </a:defRPr>
            </a:pPr>
            <a:r>
              <a:t>Chaining ✓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645920"/>
            <a:ext cx="384048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  <a:defRPr sz="1800">
                <a:solidFill>
                  <a:srgbClr val="34495E"/>
                </a:solidFill>
              </a:defRPr>
            </a:pPr>
            <a:r>
              <a:t>• Simpler implementation</a:t>
            </a:r>
          </a:p>
          <a:p>
            <a:pPr>
              <a:spcBef>
                <a:spcPts val="800"/>
              </a:spcBef>
              <a:defRPr sz="1800">
                <a:solidFill>
                  <a:srgbClr val="34495E"/>
                </a:solidFill>
              </a:defRPr>
            </a:pPr>
            <a:r>
              <a:t>• Load factor can exceed 1</a:t>
            </a:r>
          </a:p>
          <a:p>
            <a:pPr>
              <a:spcBef>
                <a:spcPts val="800"/>
              </a:spcBef>
              <a:defRPr sz="1800">
                <a:solidFill>
                  <a:srgbClr val="34495E"/>
                </a:solidFill>
              </a:defRPr>
            </a:pPr>
            <a:r>
              <a:t>• Easy deletion</a:t>
            </a:r>
          </a:p>
          <a:p>
            <a:pPr>
              <a:spcBef>
                <a:spcPts val="800"/>
              </a:spcBef>
              <a:defRPr sz="1800">
                <a:solidFill>
                  <a:srgbClr val="34495E"/>
                </a:solidFill>
              </a:defRPr>
            </a:pPr>
            <a:r>
              <a:t>• Used by: Java HashMap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846320" y="1097280"/>
            <a:ext cx="38404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E74C3C"/>
                </a:solidFill>
              </a:defRPr>
            </a:pPr>
            <a:r>
              <a:t>Open Addressing ✓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846320" y="1645920"/>
            <a:ext cx="384048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  <a:defRPr sz="1800">
                <a:solidFill>
                  <a:srgbClr val="34495E"/>
                </a:solidFill>
              </a:defRPr>
            </a:pPr>
            <a:r>
              <a:t>• Better cache performance</a:t>
            </a:r>
          </a:p>
          <a:p>
            <a:pPr>
              <a:spcBef>
                <a:spcPts val="800"/>
              </a:spcBef>
              <a:defRPr sz="1800">
                <a:solidFill>
                  <a:srgbClr val="34495E"/>
                </a:solidFill>
              </a:defRPr>
            </a:pPr>
            <a:r>
              <a:t>• More compact memory</a:t>
            </a:r>
          </a:p>
          <a:p>
            <a:pPr>
              <a:spcBef>
                <a:spcPts val="800"/>
              </a:spcBef>
              <a:defRPr sz="1800">
                <a:solidFill>
                  <a:srgbClr val="34495E"/>
                </a:solidFill>
              </a:defRPr>
            </a:pPr>
            <a:r>
              <a:t>• Tricky deletion (tombstones)</a:t>
            </a:r>
          </a:p>
          <a:p>
            <a:pPr>
              <a:spcBef>
                <a:spcPts val="800"/>
              </a:spcBef>
              <a:defRPr sz="1800">
                <a:solidFill>
                  <a:srgbClr val="34495E"/>
                </a:solidFill>
              </a:defRPr>
            </a:pPr>
            <a:r>
              <a:t>• Used by: Python dict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2C3E50"/>
                </a:solidFill>
              </a:defRPr>
            </a:pPr>
            <a:r>
              <a:t>Load Factor: α = n/m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005840"/>
            <a:ext cx="8229600" cy="50800"/>
          </a:xfrm>
          <a:prstGeom prst="rect">
            <a:avLst/>
          </a:prstGeom>
          <a:solidFill>
            <a:srgbClr val="2980B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280160"/>
            <a:ext cx="8229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200"/>
              </a:spcBef>
              <a:defRPr sz="2400">
                <a:solidFill>
                  <a:srgbClr val="34495E"/>
                </a:solidFill>
              </a:defRPr>
            </a:pPr>
            <a:r>
              <a:t>• n = items stored</a:t>
            </a:r>
          </a:p>
          <a:p>
            <a:pPr>
              <a:spcBef>
                <a:spcPts val="1200"/>
              </a:spcBef>
              <a:defRPr sz="2400">
                <a:solidFill>
                  <a:srgbClr val="34495E"/>
                </a:solidFill>
              </a:defRPr>
            </a:pPr>
            <a:r>
              <a:t>• m = table size</a:t>
            </a:r>
          </a:p>
          <a:p>
            <a:pPr>
              <a:spcBef>
                <a:spcPts val="1200"/>
              </a:spcBef>
              <a:defRPr sz="2400">
                <a:solidFill>
                  <a:srgbClr val="34495E"/>
                </a:solidFill>
              </a:defRPr>
            </a:pPr>
            <a:r>
              <a:t>• </a:t>
            </a:r>
          </a:p>
          <a:p>
            <a:pPr>
              <a:spcBef>
                <a:spcPts val="1200"/>
              </a:spcBef>
              <a:defRPr sz="2400">
                <a:solidFill>
                  <a:srgbClr val="34495E"/>
                </a:solidFill>
              </a:defRPr>
            </a:pPr>
            <a:r>
              <a:t>• As α grows → more collisions → slower</a:t>
            </a:r>
          </a:p>
          <a:p>
            <a:pPr>
              <a:spcBef>
                <a:spcPts val="1200"/>
              </a:spcBef>
              <a:defRPr sz="2400">
                <a:solidFill>
                  <a:srgbClr val="34495E"/>
                </a:solidFill>
              </a:defRPr>
            </a:pPr>
            <a:r>
              <a:t>• </a:t>
            </a:r>
          </a:p>
          <a:p>
            <a:pPr>
              <a:spcBef>
                <a:spcPts val="1200"/>
              </a:spcBef>
              <a:defRPr sz="2400">
                <a:solidFill>
                  <a:srgbClr val="34495E"/>
                </a:solidFill>
              </a:defRPr>
            </a:pPr>
            <a:r>
              <a:t>• Chaining: Still okay at α = 2 or 3</a:t>
            </a:r>
          </a:p>
          <a:p>
            <a:pPr>
              <a:spcBef>
                <a:spcPts val="1200"/>
              </a:spcBef>
              <a:defRPr sz="2400">
                <a:solidFill>
                  <a:srgbClr val="34495E"/>
                </a:solidFill>
              </a:defRPr>
            </a:pPr>
            <a:r>
              <a:t>• Open addressing: Crashes as α → 1!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2C3E50"/>
                </a:solidFill>
              </a:defRPr>
            </a:pPr>
            <a:r>
              <a:t>Dynamic Resizing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005840"/>
            <a:ext cx="8229600" cy="50800"/>
          </a:xfrm>
          <a:prstGeom prst="rect">
            <a:avLst/>
          </a:prstGeom>
          <a:solidFill>
            <a:srgbClr val="2980B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280160"/>
            <a:ext cx="8229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200"/>
              </a:spcBef>
              <a:defRPr sz="2400">
                <a:solidFill>
                  <a:srgbClr val="34495E"/>
                </a:solidFill>
              </a:defRPr>
            </a:pPr>
            <a:r>
              <a:t>• When load factor exceeds threshold (typically 0.75):</a:t>
            </a:r>
          </a:p>
          <a:p>
            <a:pPr>
              <a:spcBef>
                <a:spcPts val="1200"/>
              </a:spcBef>
              <a:defRPr sz="2400">
                <a:solidFill>
                  <a:srgbClr val="34495E"/>
                </a:solidFill>
              </a:defRPr>
            </a:pPr>
            <a:r>
              <a:t>• </a:t>
            </a:r>
          </a:p>
          <a:p>
            <a:pPr>
              <a:spcBef>
                <a:spcPts val="1200"/>
              </a:spcBef>
              <a:defRPr sz="2400">
                <a:solidFill>
                  <a:srgbClr val="34495E"/>
                </a:solidFill>
              </a:defRPr>
            </a:pPr>
            <a:r>
              <a:t>• 1️⃣ Create new array (2× the size)</a:t>
            </a:r>
          </a:p>
          <a:p>
            <a:pPr>
              <a:spcBef>
                <a:spcPts val="1200"/>
              </a:spcBef>
              <a:defRPr sz="2400">
                <a:solidFill>
                  <a:srgbClr val="34495E"/>
                </a:solidFill>
              </a:defRPr>
            </a:pPr>
            <a:r>
              <a:t>• 2️⃣ REHASH all existing elements</a:t>
            </a:r>
          </a:p>
          <a:p>
            <a:pPr>
              <a:spcBef>
                <a:spcPts val="1200"/>
              </a:spcBef>
              <a:defRPr sz="2400">
                <a:solidFill>
                  <a:srgbClr val="34495E"/>
                </a:solidFill>
              </a:defRPr>
            </a:pPr>
            <a:r>
              <a:t>• 3️⃣ Insert into new table</a:t>
            </a:r>
          </a:p>
          <a:p>
            <a:pPr>
              <a:spcBef>
                <a:spcPts val="1200"/>
              </a:spcBef>
              <a:defRPr sz="2400">
                <a:solidFill>
                  <a:srgbClr val="34495E"/>
                </a:solidFill>
              </a:defRPr>
            </a:pPr>
            <a:r>
              <a:t>• </a:t>
            </a:r>
          </a:p>
          <a:p>
            <a:pPr>
              <a:spcBef>
                <a:spcPts val="1200"/>
              </a:spcBef>
              <a:defRPr sz="2400">
                <a:solidFill>
                  <a:srgbClr val="34495E"/>
                </a:solidFill>
              </a:defRPr>
            </a:pPr>
            <a:r>
              <a:t>• Why rehash? hash depends on table size!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2C3E50"/>
                </a:solidFill>
              </a:defRPr>
            </a:pPr>
            <a:r>
              <a:t>But Rehashing is O(n)?!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005840"/>
            <a:ext cx="8229600" cy="50800"/>
          </a:xfrm>
          <a:prstGeom prst="rect">
            <a:avLst/>
          </a:prstGeom>
          <a:solidFill>
            <a:srgbClr val="2980B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280160"/>
            <a:ext cx="8229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200"/>
              </a:spcBef>
              <a:defRPr sz="2400">
                <a:solidFill>
                  <a:srgbClr val="34495E"/>
                </a:solidFill>
              </a:defRPr>
            </a:pPr>
            <a:r>
              <a:t>• Yes, but we only resize after n insertions</a:t>
            </a:r>
          </a:p>
          <a:p>
            <a:pPr>
              <a:spcBef>
                <a:spcPts val="1200"/>
              </a:spcBef>
              <a:defRPr sz="2400">
                <a:solidFill>
                  <a:srgbClr val="34495E"/>
                </a:solidFill>
              </a:defRPr>
            </a:pPr>
            <a:r>
              <a:t>• </a:t>
            </a:r>
          </a:p>
          <a:p>
            <a:pPr>
              <a:spcBef>
                <a:spcPts val="1200"/>
              </a:spcBef>
              <a:defRPr sz="2400">
                <a:solidFill>
                  <a:srgbClr val="34495E"/>
                </a:solidFill>
              </a:defRPr>
            </a:pPr>
            <a:r>
              <a:t>• Amortized analysis:</a:t>
            </a:r>
          </a:p>
          <a:p>
            <a:pPr>
              <a:spcBef>
                <a:spcPts val="1200"/>
              </a:spcBef>
              <a:defRPr sz="2400">
                <a:solidFill>
                  <a:srgbClr val="34495E"/>
                </a:solidFill>
              </a:defRPr>
            </a:pPr>
            <a:r>
              <a:t>• Each insert 'pays' for a piece of future resize</a:t>
            </a:r>
          </a:p>
          <a:p>
            <a:pPr>
              <a:spcBef>
                <a:spcPts val="1200"/>
              </a:spcBef>
              <a:defRPr sz="2400">
                <a:solidFill>
                  <a:srgbClr val="34495E"/>
                </a:solidFill>
              </a:defRPr>
            </a:pPr>
            <a:r>
              <a:t>• </a:t>
            </a:r>
          </a:p>
          <a:p>
            <a:pPr>
              <a:spcBef>
                <a:spcPts val="1200"/>
              </a:spcBef>
              <a:defRPr sz="2400">
                <a:solidFill>
                  <a:srgbClr val="34495E"/>
                </a:solidFill>
              </a:defRPr>
            </a:pPr>
            <a:r>
              <a:t>• Average per insert: Still O(1)! ✓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2C3E50"/>
                </a:solidFill>
              </a:defRPr>
            </a:pPr>
            <a:r>
              <a:t>What Makes a Good Hash Function?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005840"/>
            <a:ext cx="8229600" cy="50800"/>
          </a:xfrm>
          <a:prstGeom prst="rect">
            <a:avLst/>
          </a:prstGeom>
          <a:solidFill>
            <a:srgbClr val="2980B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280160"/>
            <a:ext cx="8229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200"/>
              </a:spcBef>
              <a:defRPr sz="2400">
                <a:solidFill>
                  <a:srgbClr val="34495E"/>
                </a:solidFill>
              </a:defRPr>
            </a:pPr>
            <a:r>
              <a:t>• ✓ Deterministic: Same input → same output</a:t>
            </a:r>
          </a:p>
          <a:p>
            <a:pPr>
              <a:spcBef>
                <a:spcPts val="1200"/>
              </a:spcBef>
              <a:defRPr sz="2400">
                <a:solidFill>
                  <a:srgbClr val="34495E"/>
                </a:solidFill>
              </a:defRPr>
            </a:pPr>
            <a:r>
              <a:t>• ✓ Fast: O(key length) is ideal</a:t>
            </a:r>
          </a:p>
          <a:p>
            <a:pPr>
              <a:spcBef>
                <a:spcPts val="1200"/>
              </a:spcBef>
              <a:defRPr sz="2400">
                <a:solidFill>
                  <a:srgbClr val="34495E"/>
                </a:solidFill>
              </a:defRPr>
            </a:pPr>
            <a:r>
              <a:t>• ✓ Uniform distribution: All buckets equally likely</a:t>
            </a:r>
          </a:p>
          <a:p>
            <a:pPr>
              <a:spcBef>
                <a:spcPts val="1200"/>
              </a:spcBef>
              <a:defRPr sz="2400">
                <a:solidFill>
                  <a:srgbClr val="34495E"/>
                </a:solidFill>
              </a:defRPr>
            </a:pPr>
            <a:r>
              <a:t>• ✓ Avalanche effect: Similar keys → different indices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2C3E50"/>
                </a:solidFill>
              </a:defRPr>
            </a:pPr>
            <a:r>
              <a:t>Hash Function Quality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38404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27AE60"/>
                </a:solidFill>
              </a:defRPr>
            </a:pPr>
            <a:r>
              <a:t>Bad Hash ❌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645920"/>
            <a:ext cx="384048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  <a:defRPr sz="1800">
                <a:solidFill>
                  <a:srgbClr val="34495E"/>
                </a:solidFill>
              </a:defRPr>
            </a:pPr>
            <a:r>
              <a:t>• def bad(s): return ord(s[0])</a:t>
            </a:r>
          </a:p>
          <a:p>
            <a:pPr>
              <a:spcBef>
                <a:spcPts val="800"/>
              </a:spcBef>
              <a:defRPr sz="1800">
                <a:solidFill>
                  <a:srgbClr val="34495E"/>
                </a:solidFill>
              </a:defRPr>
            </a:pPr>
            <a:r>
              <a:t>• All 'A' names → same bucket!</a:t>
            </a:r>
          </a:p>
          <a:p>
            <a:pPr>
              <a:spcBef>
                <a:spcPts val="800"/>
              </a:spcBef>
              <a:defRPr sz="1800">
                <a:solidFill>
                  <a:srgbClr val="34495E"/>
                </a:solidFill>
              </a:defRPr>
            </a:pPr>
            <a:r>
              <a:t>• Terrible distribution</a:t>
            </a:r>
          </a:p>
          <a:p>
            <a:pPr>
              <a:spcBef>
                <a:spcPts val="800"/>
              </a:spcBef>
              <a:defRPr sz="1800">
                <a:solidFill>
                  <a:srgbClr val="34495E"/>
                </a:solidFill>
              </a:defRPr>
            </a:pPr>
            <a:r>
              <a:t>• Degrades to O(n)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846320" y="1097280"/>
            <a:ext cx="38404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E74C3C"/>
                </a:solidFill>
              </a:defRPr>
            </a:pPr>
            <a:r>
              <a:t>Good Hash ✓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846320" y="1645920"/>
            <a:ext cx="384048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  <a:defRPr sz="1800">
                <a:solidFill>
                  <a:srgbClr val="34495E"/>
                </a:solidFill>
              </a:defRPr>
            </a:pPr>
            <a:r>
              <a:t>• Polynomial rolling hash</a:t>
            </a:r>
          </a:p>
          <a:p>
            <a:pPr>
              <a:spcBef>
                <a:spcPts val="800"/>
              </a:spcBef>
              <a:defRPr sz="1800">
                <a:solidFill>
                  <a:srgbClr val="34495E"/>
                </a:solidFill>
              </a:defRPr>
            </a:pPr>
            <a:r>
              <a:t>• h = s[0]×31⁰ + s[1]×31¹ + ...</a:t>
            </a:r>
          </a:p>
          <a:p>
            <a:pPr>
              <a:spcBef>
                <a:spcPts val="800"/>
              </a:spcBef>
              <a:defRPr sz="1800">
                <a:solidFill>
                  <a:srgbClr val="34495E"/>
                </a:solidFill>
              </a:defRPr>
            </a:pPr>
            <a:r>
              <a:t>• Excellent distribution</a:t>
            </a:r>
          </a:p>
          <a:p>
            <a:pPr>
              <a:spcBef>
                <a:spcPts val="800"/>
              </a:spcBef>
              <a:defRPr sz="1800">
                <a:solidFill>
                  <a:srgbClr val="34495E"/>
                </a:solidFill>
              </a:defRPr>
            </a:pPr>
            <a:r>
              <a:t>• Maintains O(1)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2C3E50"/>
                </a:solidFill>
              </a:defRPr>
            </a:pPr>
            <a:r>
              <a:t>Real-World Applications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005840"/>
            <a:ext cx="8229600" cy="50800"/>
          </a:xfrm>
          <a:prstGeom prst="rect">
            <a:avLst/>
          </a:prstGeom>
          <a:solidFill>
            <a:srgbClr val="2980B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280160"/>
            <a:ext cx="8229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200"/>
              </a:spcBef>
              <a:defRPr sz="2400">
                <a:solidFill>
                  <a:srgbClr val="34495E"/>
                </a:solidFill>
              </a:defRPr>
            </a:pPr>
            <a:r>
              <a:t>• 🔄 Caching: O(1) lookup for cached results</a:t>
            </a:r>
          </a:p>
          <a:p>
            <a:pPr>
              <a:spcBef>
                <a:spcPts val="1200"/>
              </a:spcBef>
              <a:defRPr sz="2400">
                <a:solidFill>
                  <a:srgbClr val="34495E"/>
                </a:solidFill>
              </a:defRPr>
            </a:pPr>
            <a:r>
              <a:t>• 🗄️ Database indexing: Fast equality queries</a:t>
            </a:r>
          </a:p>
          <a:p>
            <a:pPr>
              <a:spcBef>
                <a:spcPts val="1200"/>
              </a:spcBef>
              <a:defRPr sz="2400">
                <a:solidFill>
                  <a:srgbClr val="34495E"/>
                </a:solidFill>
              </a:defRPr>
            </a:pPr>
            <a:r>
              <a:t>• 🔍 Deduplication: Find duplicates in O(n)</a:t>
            </a:r>
          </a:p>
          <a:p>
            <a:pPr>
              <a:spcBef>
                <a:spcPts val="1200"/>
              </a:spcBef>
              <a:defRPr sz="2400">
                <a:solidFill>
                  <a:srgbClr val="34495E"/>
                </a:solidFill>
              </a:defRPr>
            </a:pPr>
            <a:r>
              <a:t>• 📊 Counting: Word frequency in O(n)</a:t>
            </a:r>
          </a:p>
          <a:p>
            <a:pPr>
              <a:spcBef>
                <a:spcPts val="1200"/>
              </a:spcBef>
              <a:defRPr sz="2400">
                <a:solidFill>
                  <a:srgbClr val="34495E"/>
                </a:solidFill>
              </a:defRPr>
            </a:pPr>
            <a:r>
              <a:t>• 🔗 Symbol tables: Compilers, interpreters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2C3E50"/>
                </a:solidFill>
              </a:defRPr>
            </a:pPr>
            <a:r>
              <a:t>Example: Word Counting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457200" y="1097280"/>
            <a:ext cx="8229600" cy="4572000"/>
          </a:xfrm>
          <a:prstGeom prst="roundRect">
            <a:avLst/>
          </a:prstGeom>
          <a:solidFill>
            <a:srgbClr val="2728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280160"/>
            <a:ext cx="786384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>
                <a:solidFill>
                  <a:srgbClr val="F8F8F2"/>
                </a:solidFill>
                <a:latin typeface="Consolas"/>
              </a:defRPr>
            </a:pPr>
            <a:r>
              <a:t># Without hash table: O(n²)</a:t>
            </a:r>
            <a:br/>
            <a:r>
              <a:t># With hash table: O(n) !</a:t>
            </a:r>
            <a:br/>
            <a:br/>
            <a:r>
              <a:t>counts = {}  # Hash table</a:t>
            </a:r>
            <a:br/>
            <a:br/>
            <a:r>
              <a:t>for word in text.split():</a:t>
            </a:r>
            <a:br/>
            <a:r>
              <a:t>    counts[word] = counts.get(word, 0) + 1</a:t>
            </a:r>
            <a:br/>
            <a:br/>
            <a:r>
              <a:t># 'the': 42</a:t>
            </a:r>
            <a:br/>
            <a:r>
              <a:t># 'quick': 3</a:t>
            </a:r>
            <a:br/>
            <a:r>
              <a:t># 'brown': 5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2C3E50"/>
                </a:solidFill>
              </a:defRPr>
            </a:pPr>
            <a:r>
              <a:t>Hash Tables in Programming Languages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005840"/>
            <a:ext cx="8229600" cy="50800"/>
          </a:xfrm>
          <a:prstGeom prst="rect">
            <a:avLst/>
          </a:prstGeom>
          <a:solidFill>
            <a:srgbClr val="2980B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280160"/>
            <a:ext cx="8229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200"/>
              </a:spcBef>
              <a:defRPr sz="2400">
                <a:solidFill>
                  <a:srgbClr val="34495E"/>
                </a:solidFill>
              </a:defRPr>
            </a:pPr>
            <a:r>
              <a:t>• 🐍 Python: dict, set → Open addressing</a:t>
            </a:r>
          </a:p>
          <a:p>
            <a:pPr>
              <a:spcBef>
                <a:spcPts val="1200"/>
              </a:spcBef>
              <a:defRPr sz="2400">
                <a:solidFill>
                  <a:srgbClr val="34495E"/>
                </a:solidFill>
              </a:defRPr>
            </a:pPr>
            <a:r>
              <a:t>• ☕ Java: HashMap → Chaining + trees</a:t>
            </a:r>
          </a:p>
          <a:p>
            <a:pPr>
              <a:spcBef>
                <a:spcPts val="1200"/>
              </a:spcBef>
              <a:defRPr sz="2400">
                <a:solidFill>
                  <a:srgbClr val="34495E"/>
                </a:solidFill>
              </a:defRPr>
            </a:pPr>
            <a:r>
              <a:t>• 🔧 C++: unordered_map → Chaining</a:t>
            </a:r>
          </a:p>
          <a:p>
            <a:pPr>
              <a:spcBef>
                <a:spcPts val="1200"/>
              </a:spcBef>
              <a:defRPr sz="2400">
                <a:solidFill>
                  <a:srgbClr val="34495E"/>
                </a:solidFill>
              </a:defRPr>
            </a:pPr>
            <a:r>
              <a:t>• 📜 JavaScript: Objects → Highly optimized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2C3E50"/>
                </a:solidFill>
              </a:defRPr>
            </a:pPr>
            <a:r>
              <a:t>Time Complexity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005840"/>
            <a:ext cx="8229600" cy="50800"/>
          </a:xfrm>
          <a:prstGeom prst="rect">
            <a:avLst/>
          </a:prstGeom>
          <a:solidFill>
            <a:srgbClr val="2980B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280160"/>
            <a:ext cx="8229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200"/>
              </a:spcBef>
              <a:defRPr sz="2400">
                <a:solidFill>
                  <a:srgbClr val="34495E"/>
                </a:solidFill>
              </a:defRPr>
            </a:pPr>
            <a:r>
              <a:t>•            Average    Worst Case</a:t>
            </a:r>
          </a:p>
          <a:p>
            <a:pPr>
              <a:spcBef>
                <a:spcPts val="1200"/>
              </a:spcBef>
              <a:defRPr sz="2400">
                <a:solidFill>
                  <a:srgbClr val="34495E"/>
                </a:solidFill>
              </a:defRPr>
            </a:pPr>
            <a:r>
              <a:t>• Insert:      O(1)        O(n)</a:t>
            </a:r>
          </a:p>
          <a:p>
            <a:pPr>
              <a:spcBef>
                <a:spcPts val="1200"/>
              </a:spcBef>
              <a:defRPr sz="2400">
                <a:solidFill>
                  <a:srgbClr val="34495E"/>
                </a:solidFill>
              </a:defRPr>
            </a:pPr>
            <a:r>
              <a:t>• Lookup:      O(1)        O(n)</a:t>
            </a:r>
          </a:p>
          <a:p>
            <a:pPr>
              <a:spcBef>
                <a:spcPts val="1200"/>
              </a:spcBef>
              <a:defRPr sz="2400">
                <a:solidFill>
                  <a:srgbClr val="34495E"/>
                </a:solidFill>
              </a:defRPr>
            </a:pPr>
            <a:r>
              <a:t>• Delete:      O(1)        O(n)</a:t>
            </a:r>
          </a:p>
          <a:p>
            <a:pPr>
              <a:spcBef>
                <a:spcPts val="1200"/>
              </a:spcBef>
              <a:defRPr sz="2400">
                <a:solidFill>
                  <a:srgbClr val="34495E"/>
                </a:solidFill>
              </a:defRPr>
            </a:pPr>
            <a:r>
              <a:t>• </a:t>
            </a:r>
          </a:p>
          <a:p>
            <a:pPr>
              <a:spcBef>
                <a:spcPts val="1200"/>
              </a:spcBef>
              <a:defRPr sz="2400">
                <a:solidFill>
                  <a:srgbClr val="34495E"/>
                </a:solidFill>
              </a:defRPr>
            </a:pPr>
            <a:r>
              <a:t>• Worst case: All elements hash to same bucket</a:t>
            </a:r>
          </a:p>
          <a:p>
            <a:pPr>
              <a:spcBef>
                <a:spcPts val="1200"/>
              </a:spcBef>
              <a:defRPr sz="2400">
                <a:solidFill>
                  <a:srgbClr val="34495E"/>
                </a:solidFill>
              </a:defRPr>
            </a:pPr>
            <a:r>
              <a:t>• (Astronomically unlikely with good hash function)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2C3E50"/>
                </a:solidFill>
              </a:defRPr>
            </a:pPr>
            <a:r>
              <a:t>⚠️ Common Pitfalls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005840"/>
            <a:ext cx="8229600" cy="50800"/>
          </a:xfrm>
          <a:prstGeom prst="rect">
            <a:avLst/>
          </a:prstGeom>
          <a:solidFill>
            <a:srgbClr val="2980B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280160"/>
            <a:ext cx="8229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200"/>
              </a:spcBef>
              <a:defRPr sz="2400">
                <a:solidFill>
                  <a:srgbClr val="34495E"/>
                </a:solidFill>
              </a:defRPr>
            </a:pPr>
            <a:r>
              <a:t>• 🔹 Mutable keys: If key changes, lost forever!</a:t>
            </a:r>
          </a:p>
          <a:p>
            <a:pPr>
              <a:spcBef>
                <a:spcPts val="1200"/>
              </a:spcBef>
              <a:defRPr sz="2400">
                <a:solidFill>
                  <a:srgbClr val="34495E"/>
                </a:solidFill>
              </a:defRPr>
            </a:pPr>
            <a:r>
              <a:t>• 🔹 Bad hash functions: Degrades to O(n)</a:t>
            </a:r>
          </a:p>
          <a:p>
            <a:pPr>
              <a:spcBef>
                <a:spcPts val="1200"/>
              </a:spcBef>
              <a:defRPr sz="2400">
                <a:solidFill>
                  <a:srgbClr val="34495E"/>
                </a:solidFill>
              </a:defRPr>
            </a:pPr>
            <a:r>
              <a:t>• 🔹 Hash collision attacks: Crafted inputs for O(n²)</a:t>
            </a:r>
          </a:p>
          <a:p>
            <a:pPr>
              <a:spcBef>
                <a:spcPts val="1200"/>
              </a:spcBef>
              <a:defRPr sz="2400">
                <a:solidFill>
                  <a:srgbClr val="34495E"/>
                </a:solidFill>
              </a:defRPr>
            </a:pPr>
            <a:r>
              <a:t>• 🔹 Java: Must override hashCode with equals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2C3E50"/>
                </a:solidFill>
              </a:defRPr>
            </a:pPr>
            <a:r>
              <a:t>Key Takeaways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005840"/>
            <a:ext cx="8229600" cy="50800"/>
          </a:xfrm>
          <a:prstGeom prst="rect">
            <a:avLst/>
          </a:prstGeom>
          <a:solidFill>
            <a:srgbClr val="2980B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280160"/>
            <a:ext cx="8229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200"/>
              </a:spcBef>
              <a:defRPr sz="2400">
                <a:solidFill>
                  <a:srgbClr val="34495E"/>
                </a:solidFill>
              </a:defRPr>
            </a:pPr>
            <a:r>
              <a:t>• 1️⃣ O(1) average for insert, lookup, delete</a:t>
            </a:r>
          </a:p>
          <a:p>
            <a:pPr>
              <a:spcBef>
                <a:spcPts val="1200"/>
              </a:spcBef>
              <a:defRPr sz="2400">
                <a:solidFill>
                  <a:srgbClr val="34495E"/>
                </a:solidFill>
              </a:defRPr>
            </a:pPr>
            <a:r>
              <a:t>• 2️⃣ Trade space for time</a:t>
            </a:r>
          </a:p>
          <a:p>
            <a:pPr>
              <a:spcBef>
                <a:spcPts val="1200"/>
              </a:spcBef>
              <a:defRPr sz="2400">
                <a:solidFill>
                  <a:srgbClr val="34495E"/>
                </a:solidFill>
              </a:defRPr>
            </a:pPr>
            <a:r>
              <a:t>• 3️⃣ Two strategies: Chaining vs Open Addressing</a:t>
            </a:r>
          </a:p>
          <a:p>
            <a:pPr>
              <a:spcBef>
                <a:spcPts val="1200"/>
              </a:spcBef>
              <a:defRPr sz="2400">
                <a:solidFill>
                  <a:srgbClr val="34495E"/>
                </a:solidFill>
              </a:defRPr>
            </a:pPr>
            <a:r>
              <a:t>• 4️⃣ Resizing maintains performance (amortized O(1))</a:t>
            </a:r>
          </a:p>
          <a:p>
            <a:pPr>
              <a:spcBef>
                <a:spcPts val="1200"/>
              </a:spcBef>
              <a:defRPr sz="2400">
                <a:solidFill>
                  <a:srgbClr val="34495E"/>
                </a:solidFill>
              </a:defRPr>
            </a:pPr>
            <a:r>
              <a:t>• 5️⃣ Hash function quality is critical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2C3E50"/>
                </a:solidFill>
              </a:defRPr>
            </a:pPr>
            <a:r>
              <a:t>The Bigger Picture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005840"/>
            <a:ext cx="8229600" cy="50800"/>
          </a:xfrm>
          <a:prstGeom prst="rect">
            <a:avLst/>
          </a:prstGeom>
          <a:solidFill>
            <a:srgbClr val="2980B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280160"/>
            <a:ext cx="8229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200"/>
              </a:spcBef>
              <a:defRPr sz="2400">
                <a:solidFill>
                  <a:srgbClr val="34495E"/>
                </a:solidFill>
              </a:defRPr>
            </a:pPr>
            <a:r>
              <a:t>• </a:t>
            </a:r>
          </a:p>
          <a:p>
            <a:pPr>
              <a:spcBef>
                <a:spcPts val="1200"/>
              </a:spcBef>
              <a:defRPr sz="2400">
                <a:solidFill>
                  <a:srgbClr val="34495E"/>
                </a:solidFill>
              </a:defRPr>
            </a:pPr>
            <a:r>
              <a:t>• Clever indexing beats searching</a:t>
            </a:r>
          </a:p>
          <a:p>
            <a:pPr>
              <a:spcBef>
                <a:spcPts val="1200"/>
              </a:spcBef>
              <a:defRPr sz="2400">
                <a:solidFill>
                  <a:srgbClr val="34495E"/>
                </a:solidFill>
              </a:defRPr>
            </a:pPr>
            <a:r>
              <a:t>• </a:t>
            </a:r>
          </a:p>
          <a:p>
            <a:pPr>
              <a:spcBef>
                <a:spcPts val="1200"/>
              </a:spcBef>
              <a:defRPr sz="2400">
                <a:solidFill>
                  <a:srgbClr val="34495E"/>
                </a:solidFill>
              </a:defRPr>
            </a:pPr>
            <a:r>
              <a:t>• Instead of looking through data,</a:t>
            </a:r>
          </a:p>
          <a:p>
            <a:pPr>
              <a:spcBef>
                <a:spcPts val="1200"/>
              </a:spcBef>
              <a:defRPr sz="2400">
                <a:solidFill>
                  <a:srgbClr val="34495E"/>
                </a:solidFill>
              </a:defRPr>
            </a:pPr>
            <a:r>
              <a:t>• compute exactly where it should be</a:t>
            </a:r>
          </a:p>
          <a:p>
            <a:pPr>
              <a:spcBef>
                <a:spcPts val="1200"/>
              </a:spcBef>
              <a:defRPr sz="2400">
                <a:solidFill>
                  <a:srgbClr val="34495E"/>
                </a:solidFill>
              </a:defRPr>
            </a:pPr>
            <a:r>
              <a:t>• 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67E2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82296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400" b="1">
                <a:solidFill>
                  <a:srgbClr val="FFFFFF"/>
                </a:solidFill>
              </a:defRPr>
            </a:pPr>
            <a:r>
              <a:t>Questions?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365760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>
                <a:solidFill>
                  <a:srgbClr val="ECF0F1"/>
                </a:solidFill>
              </a:defRPr>
            </a:pPr>
            <a:r>
              <a:t>Hash Tables: O(1) magic at your fingertips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