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80B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PageRank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ECF0F1"/>
                </a:solidFill>
              </a:defRPr>
            </a:pPr>
            <a:r>
              <a:t>How Google Organized the World's Information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The Year is 1997...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508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Internet has ~100 million web pages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You search for 'jaguar' on AltaVista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Results: 🚗 Car websites, 🐆 Animal pages, 💻 Mac OS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         🏈 Sports teams, 📧 Spam, spam, spam...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Keyword matching = Easily gamed, unreliable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The Fundamental Question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508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How do you measure which page is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genuinely IMPORTANT?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— Larry Page &amp; Sergey Brin, Stanford 1998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The Academic Insight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508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How do we judge importance of research papers?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→ Count citations!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But not all citations are equal...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A citation from Nature &gt; citation from unknown journal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Key Twist: Citation FROM important paper counts MORE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The Web as a Graph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508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📄 Every web page = Node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🔗 Every hyperlink = Directed edge (a 'vote')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A page is important if it's linked by important pages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Notice: This is recursive! 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Fun Fact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508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'PageRank' is a pun!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📄  Ranks web PAGES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👤  Named after Larry PAGE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The Random Surfer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508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Imagine a random web surfer (Alice)...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1️⃣  Start on a random page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2️⃣  Randomly click one of the links on the page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3️⃣  Repeat... for a VERY long time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Question: After billions of clicks,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where is Alice most likely to be found?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PageRank = Visit Probability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508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The answer gives us PageRank!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Pages where Alice spends more time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= More 'central' in the link structure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= Higher PageRank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[VISUAL: Animation of random walk converging]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The Damping Factor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508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Problem 1: What if Alice hits a dead end? (no outlinks)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Problem 2: What if there's a cycle she can't escape?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Solution: With probability 15%, Alice gets 'bored'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          and teleports to a random page!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d = 0.85 (damping factor = probability of following a link)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The PageRank Equation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2980B9"/>
                </a:solidFill>
              </a:defRPr>
            </a:pPr>
            <a:r>
              <a:t>PR(A) = (1-d)/N + d × Σ PR(Ti)/L(Ti)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34495E"/>
                </a:solidFill>
              </a:defRPr>
            </a:pPr>
            <a:r>
              <a:t>N = total pages    d = 0.85 (damping factor)</a:t>
            </a:r>
            <a:br/>
            <a:r>
              <a:t>M(A) = pages linking to A    L(Ti) = outlinks from Ti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Understanding the Formula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508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(1-d)/N  →  Teleportation (random jump probability)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d × Σ PR(Ti)/L(Ti)  →  Sum of 'votes' from linking pages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If a page has PR=0.5 and 10 outlinks,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each link passes 0.05 of its importance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Worked Example: 4 Pages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508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A ← linked by B, C, D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B ← linked by D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C ← linked by B, D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Start: All pages have PR = 0.25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Iterate until convergence...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Result: A has highest PageRank (most incoming links)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Matrix Formulation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2980B9"/>
                </a:solidFill>
              </a:defRPr>
            </a:pPr>
            <a:r>
              <a:t>r = M × 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34495E"/>
                </a:solidFill>
              </a:defRPr>
            </a:pPr>
            <a:r>
              <a:t>PageRank vector r is the principal eigenvector</a:t>
            </a:r>
            <a:br/>
            <a:r>
              <a:t>of the transition matrix M with eigenvalue 1</a:t>
            </a:r>
            <a:br/>
            <a:br/>
            <a:r>
              <a:t>Solution: Power iteration - multiply until convergence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Convergence is Fast!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508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Original Google (1998):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• 322 million pages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• Converged in just 52 iterations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The algorithm scales beautifully ✓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PageRank Algorithm (Python)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8229600" cy="4572000"/>
          </a:xfrm>
          <a:prstGeom prst="roundRect">
            <a:avLst/>
          </a:prstGeom>
          <a:solidFill>
            <a:srgbClr val="272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8F8F2"/>
                </a:solidFill>
                <a:latin typeface="Consolas"/>
              </a:defRPr>
            </a:pPr>
            <a:r>
              <a:t>def pagerank(M, d=0.85, epsilon=1e-8):</a:t>
            </a:r>
            <a:br/>
            <a:r>
              <a:t>    N = M.shape[0]</a:t>
            </a:r>
            <a:br/>
            <a:r>
              <a:t>    r = np.ones(N) / N  # Start uniform</a:t>
            </a:r>
            <a:br/>
            <a:r>
              <a:t>    </a:t>
            </a:r>
            <a:br/>
            <a:r>
              <a:t>    while True:</a:t>
            </a:r>
            <a:br/>
            <a:r>
              <a:t>        r_new = (1-d)/N + d * M @ r</a:t>
            </a:r>
            <a:br/>
            <a:r>
              <a:t>        if np.linalg.norm(r_new - r) &lt; epsilon:</a:t>
            </a:r>
            <a:br/>
            <a:r>
              <a:t>            return r_new</a:t>
            </a:r>
            <a:br/>
            <a:r>
              <a:t>        r = r_new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Handling Edge Cases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508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🔹 Dangling nodes (no outlinks):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   Distribute their PageRank evenly to all pages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🔹 Spider traps (self-loops, cycles):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   Damping factor prevents getting stuck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🔹 Sparse matrix storage: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   Most pages link to only a few others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Beyond Web Search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508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PageRank works on ANY directed graph!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📚 Academic citations → Measure paper influence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🐦 Twitter 'Who to Follow' → Personalized PageRank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🧬 Biology → Essential proteins in networks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🏈 Sports → Team rankings from game results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Limitations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508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❌ Topic-agnostic: High-PR cat page won't help dog search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❌ Favors old pages: New pages haven't accumulated links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❌ Gaming: Link farms tried to manipulate rankings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Today: Google uses 200+ ranking signals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But PageRank remains a foundational signal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Key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508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1️⃣ Important pages are linked by important pages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2️⃣ Random surfer: PageRank = visit probability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3️⃣ Math: Principal eigenvector of transition matrix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4️⃣ Fast convergence, scales to billions of pages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5️⃣ Idea extends far beyond web search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The Bigger Picture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508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From content-based → structure-based analysis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The links between things often tell us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more than the things themselves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80B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ECF0F1"/>
                </a:solidFill>
              </a:defRPr>
            </a:pPr>
            <a:r>
              <a:t>PageRank: Turning chaos into organized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